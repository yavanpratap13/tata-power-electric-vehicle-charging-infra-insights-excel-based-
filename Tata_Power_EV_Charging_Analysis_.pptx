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9"/>
    <p:sldId id="269" r:id="rId10"/>
    <p:sldId id="270" r:id="rId11"/>
    <p:sldId id="271" r:id="rId12"/>
    <p:sldId id="272" r:id="rId8"/>
    <p:sldId id="273" r:id="rId7"/>
    <p:sldId id="274" r:id="rId6"/>
    <p:sldId id="275" r:id="rId5"/>
    <p:sldId id="276" r:id="rId4"/>
    <p:sldId id="277" r:id="rId3"/>
    <p:sldId id="278" r:id="rId19"/>
    <p:sldId id="279" r:id="rId20"/>
    <p:sldId id="280" r:id="rId21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432194-2AD6-4CD6-9D37-A33ED52AE82A}">
          <p14:sldIdLst>
            <p14:sldId id="256"/>
            <p14:sldId id="268"/>
          </p14:sldIdLst>
        </p14:section>
        <p14:section name="1 · Business and usage overview" id="{C9EADEF1-70EB-4B4A-890C-761DA92662FA}">
          <p14:sldIdLst>
            <p14:sldId id="269"/>
            <p14:sldId id="270"/>
          </p14:sldIdLst>
        </p14:section>
        <p14:section name="2 · Station utilisation and efficiency" id="{7EA84BB4-D101-405A-8475-87AE4572FCFC}">
          <p14:sldIdLst>
            <p14:sldId id="271"/>
            <p14:sldId id="272"/>
          </p14:sldIdLst>
        </p14:section>
        <p14:section name="3 · Customer and demand behaviour" id="{FB9B8CAB-BE1B-42CC-8A33-3AAC3A253FE2}">
          <p14:sldIdLst>
            <p14:sldId id="273"/>
            <p14:sldId id="274"/>
            <p14:sldId id="275"/>
          </p14:sldIdLst>
        </p14:section>
        <p14:section name="4 · Financial performance and expansion" id="{F6AE3560-1F0E-4F43-ABE7-FD0F429DECEF}">
          <p14:sldIdLst>
            <p14:sldId id="276"/>
            <p14:sldId id="277"/>
            <p14:sldId id="278"/>
            <p14:sldId id="279"/>
          </p14:sldIdLst>
        </p14:section>
        <p14:section name="Recommendations and close" id="{C1C62D06-EB3E-4F2C-9D5D-3DB368486BAD}">
          <p14:sldIdLst>
            <p14:sldId id="280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9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Sheet1!$A$2:$A$5</c:f>
              <c:strCache>
                <c:ptCount val="4"/>
                <c:pt idx="0">
                  <c:v>Aug (21 d)</c:v>
                </c:pt>
                <c:pt idx="1">
                  <c:v>Sep (30 d)</c:v>
                </c:pt>
                <c:pt idx="2">
                  <c:v>Oct (31 d)</c:v>
                </c:pt>
                <c:pt idx="3">
                  <c:v>Nov (7 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1277</c:v>
                </c:pt>
                <c:pt idx="1">
                  <c:v>1287</c:v>
                </c:pt>
                <c:pt idx="2">
                  <c:v>1278</c:v>
                </c:pt>
                <c:pt idx="3">
                  <c:v>1281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  <c:min val="0.0"/>
        </c:scaling>
        <c:delete val="0"/>
        <c:axPos val="l"/>
        <c:majorGridlines>
          <c:spPr>
            <a:ln w="9525">
              <a:solidFill>
                <a:srgbClr val="D7E6F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dPt>
            <c:idx val="0"/>
            <c:spPr>
              <a:solidFill>
                <a:srgbClr val="B9C9D6"/>
              </a:solidFill>
            </c:spPr>
          </c:dPt>
          <c:dPt>
            <c:idx val="1"/>
            <c:spPr>
              <a:solidFill>
                <a:srgbClr val="B9C9D6"/>
              </a:solidFill>
            </c:spPr>
          </c:dPt>
          <c:dPt>
            <c:idx val="2"/>
            <c:spPr>
              <a:solidFill>
                <a:srgbClr val="B9C9D6"/>
              </a:solidFill>
            </c:spPr>
          </c:dPt>
          <c:dPt>
            <c:idx val="3"/>
            <c:spPr>
              <a:solidFill>
                <a:srgbClr val="B9C9D6"/>
              </a:solidFill>
            </c:spPr>
          </c:dPt>
          <c:dPt>
            <c:idx val="4"/>
            <c:spPr>
              <a:solidFill>
                <a:srgbClr val="B9C9D6"/>
              </a:solidFill>
            </c:spPr>
          </c:dPt>
          <c:dPt>
            <c:idx val="5"/>
            <c:spPr>
              <a:solidFill>
                <a:srgbClr val="B9C9D6"/>
              </a:solidFill>
            </c:spPr>
          </c:dPt>
          <c:dPt>
            <c:idx val="6"/>
            <c:spPr>
              <a:solidFill>
                <a:srgbClr val="B9C9D6"/>
              </a:solidFill>
            </c:spPr>
          </c:dPt>
          <c:dPt>
            <c:idx val="7"/>
            <c:spPr>
              <a:solidFill>
                <a:srgbClr val="B9C9D6"/>
              </a:solidFill>
            </c:spPr>
          </c:dPt>
          <c:dPt>
            <c:idx val="8"/>
            <c:spPr>
              <a:solidFill>
                <a:srgbClr val="00A99D"/>
              </a:solidFill>
            </c:spPr>
          </c:dPt>
          <c:dPt>
            <c:idx val="9"/>
            <c:spPr>
              <a:solidFill>
                <a:srgbClr val="00A99D"/>
              </a:solidFill>
            </c:spPr>
          </c:dPt>
          <c:dPt>
            <c:idx val="10"/>
            <c:spPr>
              <a:solidFill>
                <a:srgbClr val="00A99D"/>
              </a:solidFill>
            </c:spPr>
          </c:dPt>
          <c:dPt>
            <c:idx val="11"/>
            <c:spPr>
              <a:solidFill>
                <a:srgbClr val="00A99D"/>
              </a:solidFill>
            </c:spPr>
          </c:dPt>
          <c:dPt>
            <c:idx val="12"/>
            <c:spPr>
              <a:solidFill>
                <a:srgbClr val="00A99D"/>
              </a:solidFill>
            </c:spPr>
          </c:dPt>
          <c:dPt>
            <c:idx val="13"/>
            <c:spPr>
              <a:solidFill>
                <a:srgbClr val="00A99D"/>
              </a:solidFill>
            </c:spPr>
          </c:dPt>
          <c:dPt>
            <c:idx val="14"/>
            <c:spPr>
              <a:solidFill>
                <a:srgbClr val="00A99D"/>
              </a:solidFill>
            </c:spPr>
          </c:dPt>
          <c:dPt>
            <c:idx val="15"/>
            <c:spPr>
              <a:solidFill>
                <a:srgbClr val="00A99D"/>
              </a:solidFill>
            </c:spPr>
          </c:dPt>
          <c:dPt>
            <c:idx val="16"/>
            <c:spPr>
              <a:solidFill>
                <a:srgbClr val="3E7CC2"/>
              </a:solidFill>
            </c:spPr>
          </c:dPt>
          <c:dPt>
            <c:idx val="17"/>
            <c:spPr>
              <a:solidFill>
                <a:srgbClr val="3E7CC2"/>
              </a:solidFill>
            </c:spPr>
          </c:dPt>
          <c:dPt>
            <c:idx val="18"/>
            <c:spPr>
              <a:solidFill>
                <a:srgbClr val="3E7CC2"/>
              </a:solidFill>
            </c:spPr>
          </c:dPt>
          <c:dPt>
            <c:idx val="19"/>
            <c:spPr>
              <a:solidFill>
                <a:srgbClr val="3E7CC2"/>
              </a:solidFill>
            </c:spPr>
          </c:dPt>
          <c:dPt>
            <c:idx val="20"/>
            <c:spPr>
              <a:solidFill>
                <a:srgbClr val="B9C9D6"/>
              </a:solidFill>
            </c:spPr>
          </c:dPt>
          <c:dPt>
            <c:idx val="21"/>
            <c:spPr>
              <a:solidFill>
                <a:srgbClr val="B9C9D6"/>
              </a:solidFill>
            </c:spPr>
          </c:dPt>
          <c:dPt>
            <c:idx val="22"/>
            <c:spPr>
              <a:solidFill>
                <a:srgbClr val="B9C9D6"/>
              </a:solidFill>
            </c:spPr>
          </c:dPt>
          <c:dPt>
            <c:idx val="23"/>
            <c:spPr>
              <a:solidFill>
                <a:srgbClr val="B9C9D6"/>
              </a:solidFill>
            </c:spPr>
          </c:dPt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71423.10828</c:v>
                </c:pt>
                <c:pt idx="1">
                  <c:v>72215.18637</c:v>
                </c:pt>
                <c:pt idx="2">
                  <c:v>67219.31293</c:v>
                </c:pt>
                <c:pt idx="3">
                  <c:v>66959.67437</c:v>
                </c:pt>
                <c:pt idx="4">
                  <c:v>73436.31251</c:v>
                </c:pt>
                <c:pt idx="5">
                  <c:v>72673.4236</c:v>
                </c:pt>
                <c:pt idx="6">
                  <c:v>69630.61356</c:v>
                </c:pt>
                <c:pt idx="7">
                  <c:v>70858.55772</c:v>
                </c:pt>
                <c:pt idx="8">
                  <c:v>181025.3626</c:v>
                </c:pt>
                <c:pt idx="9">
                  <c:v>181009.3909</c:v>
                </c:pt>
                <c:pt idx="10">
                  <c:v>182372.6481</c:v>
                </c:pt>
                <c:pt idx="11">
                  <c:v>178223.3271</c:v>
                </c:pt>
                <c:pt idx="12">
                  <c:v>176038.9717</c:v>
                </c:pt>
                <c:pt idx="13">
                  <c:v>177011.6492</c:v>
                </c:pt>
                <c:pt idx="14">
                  <c:v>180593.1615</c:v>
                </c:pt>
                <c:pt idx="15">
                  <c:v>183814.7766</c:v>
                </c:pt>
                <c:pt idx="16">
                  <c:v>144361.1531</c:v>
                </c:pt>
                <c:pt idx="17">
                  <c:v>141164.8378</c:v>
                </c:pt>
                <c:pt idx="18">
                  <c:v>142071.3075</c:v>
                </c:pt>
                <c:pt idx="19">
                  <c:v>141196.9641</c:v>
                </c:pt>
                <c:pt idx="20">
                  <c:v>73049.2282</c:v>
                </c:pt>
                <c:pt idx="21">
                  <c:v>71140.7845</c:v>
                </c:pt>
                <c:pt idx="22">
                  <c:v>72957.4666</c:v>
                </c:pt>
                <c:pt idx="23">
                  <c:v>69324.47629</c:v>
                </c:pt>
              </c:numCache>
            </c:numRef>
          </c:val>
        </c:ser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05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7E6F3"/>
              </a:solidFill>
            </a:ln>
          </c:spPr>
        </c:majorGridlines>
        <c:numFmt formatCode="#,##0,&quot;k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Sheet1!$A$2:$A$19</c:f>
              <c:strCache>
                <c:ptCount val="18"/>
                <c:pt idx="0">
                  <c:v>HSR Layout</c:v>
                </c:pt>
                <c:pt idx="1">
                  <c:v>Electronic City</c:v>
                </c:pt>
                <c:pt idx="2">
                  <c:v>Indiranagar</c:v>
                </c:pt>
                <c:pt idx="3">
                  <c:v>Byatarayanapura</c:v>
                </c:pt>
                <c:pt idx="4">
                  <c:v>Yelahanka</c:v>
                </c:pt>
                <c:pt idx="5">
                  <c:v>Rajajinagar</c:v>
                </c:pt>
                <c:pt idx="6">
                  <c:v>Kengeri</c:v>
                </c:pt>
                <c:pt idx="7">
                  <c:v>Bommanahalli</c:v>
                </c:pt>
                <c:pt idx="8">
                  <c:v>Marathahalli</c:v>
                </c:pt>
                <c:pt idx="9">
                  <c:v>JP Nagar</c:v>
                </c:pt>
                <c:pt idx="10">
                  <c:v>Koramangala</c:v>
                </c:pt>
                <c:pt idx="11">
                  <c:v>Dasarahalli</c:v>
                </c:pt>
                <c:pt idx="12">
                  <c:v>Hebbal</c:v>
                </c:pt>
                <c:pt idx="13">
                  <c:v>Whitefield</c:v>
                </c:pt>
                <c:pt idx="14">
                  <c:v>Jayanagar</c:v>
                </c:pt>
                <c:pt idx="15">
                  <c:v>Rajarajeshwari Nagar</c:v>
                </c:pt>
                <c:pt idx="16">
                  <c:v>Anekal</c:v>
                </c:pt>
                <c:pt idx="17">
                  <c:v>Banashankari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297.0</c:v>
                </c:pt>
                <c:pt idx="1">
                  <c:v>297.0</c:v>
                </c:pt>
                <c:pt idx="2">
                  <c:v>296.7</c:v>
                </c:pt>
                <c:pt idx="3">
                  <c:v>295.9</c:v>
                </c:pt>
                <c:pt idx="4">
                  <c:v>295.8</c:v>
                </c:pt>
                <c:pt idx="5">
                  <c:v>295.6</c:v>
                </c:pt>
                <c:pt idx="6">
                  <c:v>293.9</c:v>
                </c:pt>
                <c:pt idx="7">
                  <c:v>293.6</c:v>
                </c:pt>
                <c:pt idx="8">
                  <c:v>292.7</c:v>
                </c:pt>
                <c:pt idx="9">
                  <c:v>291.2</c:v>
                </c:pt>
                <c:pt idx="10">
                  <c:v>289.9</c:v>
                </c:pt>
                <c:pt idx="11">
                  <c:v>289.7</c:v>
                </c:pt>
                <c:pt idx="12">
                  <c:v>289.4</c:v>
                </c:pt>
                <c:pt idx="13">
                  <c:v>288.9</c:v>
                </c:pt>
                <c:pt idx="14">
                  <c:v>288.8</c:v>
                </c:pt>
                <c:pt idx="15">
                  <c:v>288.0</c:v>
                </c:pt>
                <c:pt idx="16">
                  <c:v>288.0</c:v>
                </c:pt>
                <c:pt idx="17">
                  <c:v>287.3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b"/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rgbClr val="00A99D"/>
            </a:solidFill>
          </c:spPr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Low-Mid</c:v>
                </c:pt>
                <c:pt idx="2">
                  <c:v>Mid-Range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0.259</c:v>
                </c:pt>
                <c:pt idx="1">
                  <c:v>0.263</c:v>
                </c:pt>
                <c:pt idx="2">
                  <c:v>0.478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kWh share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Low-Mid</c:v>
                </c:pt>
                <c:pt idx="2">
                  <c:v>Mid-Range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0.311</c:v>
                </c:pt>
                <c:pt idx="1">
                  <c:v>0.33</c:v>
                </c:pt>
                <c:pt idx="2">
                  <c:v>0.359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 w="9525">
              <a:solidFill>
                <a:srgbClr val="D7E6F3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Sheet1!$A$2:$A$9</c:f>
              <c:strCache>
                <c:ptCount val="8"/>
                <c:pt idx="0">
                  <c:v>Mahindra XUV400 EC Pro (39.4)</c:v>
                </c:pt>
                <c:pt idx="1">
                  <c:v>Hyundai Kona Electric (39.2)</c:v>
                </c:pt>
                <c:pt idx="2">
                  <c:v>Tata Punch EV (35)</c:v>
                </c:pt>
                <c:pt idx="3">
                  <c:v>Citroen eC3 (29.2)</c:v>
                </c:pt>
                <c:pt idx="4">
                  <c:v>Ampere Nexus (30)</c:v>
                </c:pt>
                <c:pt idx="5">
                  <c:v>Tata Nexon EV (30.2)</c:v>
                </c:pt>
                <c:pt idx="6">
                  <c:v>Tata Tigor EV Base (21.5)</c:v>
                </c:pt>
                <c:pt idx="7">
                  <c:v>Tata Tigor EV (26)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157675.76</c:v>
                </c:pt>
                <c:pt idx="1">
                  <c:v>156561.05</c:v>
                </c:pt>
                <c:pt idx="2">
                  <c:v>144610.63</c:v>
                </c:pt>
                <c:pt idx="3">
                  <c:v>144203.64</c:v>
                </c:pt>
                <c:pt idx="4">
                  <c:v>137595.49</c:v>
                </c:pt>
                <c:pt idx="5">
                  <c:v>135948.58</c:v>
                </c:pt>
                <c:pt idx="6">
                  <c:v>127719.49</c:v>
                </c:pt>
                <c:pt idx="7">
                  <c:v>126221.34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  <c:min val="0.0"/>
        </c:scaling>
        <c:delete/>
        <c:axPos val="b"/>
        <c:numFmt formatCode="#,##0,&quot;k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7CC2"/>
            </a:solidFill>
          </c:spPr>
          <c:cat>
            <c:strRef>
              <c:f>Sheet1!$A$2:$A$9</c:f>
              <c:strCache>
                <c:ptCount val="8"/>
                <c:pt idx="0">
                  <c:v>Tata Nexon EV Max (40.5)</c:v>
                </c:pt>
                <c:pt idx="1">
                  <c:v>MG Comet EV (17.3)</c:v>
                </c:pt>
                <c:pt idx="2">
                  <c:v>MG ZS EV Exclusive (50.3)</c:v>
                </c:pt>
                <c:pt idx="3">
                  <c:v>Mahindra e2o Plus (18.5)</c:v>
                </c:pt>
                <c:pt idx="4">
                  <c:v>Hero Electric Optima (12)</c:v>
                </c:pt>
                <c:pt idx="5">
                  <c:v>BYD Atto 3 Superior (60.5)</c:v>
                </c:pt>
                <c:pt idx="6">
                  <c:v>BMW iX1 (66.5)</c:v>
                </c:pt>
                <c:pt idx="7">
                  <c:v>Greaves Eltra (16)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71322.81</c:v>
                </c:pt>
                <c:pt idx="1">
                  <c:v>76867.49</c:v>
                </c:pt>
                <c:pt idx="2">
                  <c:v>77425.17</c:v>
                </c:pt>
                <c:pt idx="3">
                  <c:v>85420.93</c:v>
                </c:pt>
                <c:pt idx="4">
                  <c:v>86786.02</c:v>
                </c:pt>
                <c:pt idx="5">
                  <c:v>87342.37</c:v>
                </c:pt>
                <c:pt idx="6">
                  <c:v>94506.18</c:v>
                </c:pt>
                <c:pt idx="7">
                  <c:v>103430.99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  <c:min val="0.0"/>
        </c:scaling>
        <c:delete/>
        <c:axPos val="b"/>
        <c:numFmt formatCode="#,##0,&quot;k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models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0A99D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50" b="0" i="0">
                        <a:solidFill>
                          <a:srgbClr val="1F2933"/>
                        </a:solidFill>
                        <a:latin typeface="Calibri"/>
                      </a:rPr>
                      <a:t>Mahindra XUV400 EC Pro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1050" b="0" i="0">
                        <a:solidFill>
                          <a:srgbClr val="1F2933"/>
                        </a:solidFill>
                        <a:latin typeface="Calibri"/>
                      </a:rPr>
                      <a:t>Audi e-tron 55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4"/>
              <c:tx>
                <c:rich>
                  <a:bodyPr/>
                  <a:lstStyle/>
                  <a:p>
                    <a:r>
                      <a:rPr sz="1050" b="0" i="0">
                        <a:solidFill>
                          <a:srgbClr val="1F2933"/>
                        </a:solidFill>
                        <a:latin typeface="Calibri"/>
                      </a:rPr>
                      <a:t>Tata Nexon EV Max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39.4</c:v>
                </c:pt>
                <c:pt idx="1">
                  <c:v>39.2</c:v>
                </c:pt>
                <c:pt idx="2">
                  <c:v>35</c:v>
                </c:pt>
                <c:pt idx="3">
                  <c:v>29.2</c:v>
                </c:pt>
                <c:pt idx="4">
                  <c:v>30</c:v>
                </c:pt>
                <c:pt idx="5">
                  <c:v>30.2</c:v>
                </c:pt>
                <c:pt idx="6">
                  <c:v>21.5</c:v>
                </c:pt>
                <c:pt idx="7">
                  <c:v>26</c:v>
                </c:pt>
                <c:pt idx="8">
                  <c:v>22</c:v>
                </c:pt>
                <c:pt idx="9">
                  <c:v>24</c:v>
                </c:pt>
                <c:pt idx="10">
                  <c:v>29.2</c:v>
                </c:pt>
                <c:pt idx="11">
                  <c:v>72.6</c:v>
                </c:pt>
                <c:pt idx="12">
                  <c:v>20</c:v>
                </c:pt>
                <c:pt idx="13">
                  <c:v>77.4</c:v>
                </c:pt>
                <c:pt idx="14">
                  <c:v>66.5</c:v>
                </c:pt>
                <c:pt idx="15">
                  <c:v>95</c:v>
                </c:pt>
                <c:pt idx="16">
                  <c:v>75</c:v>
                </c:pt>
                <c:pt idx="17">
                  <c:v>16</c:v>
                </c:pt>
                <c:pt idx="18">
                  <c:v>66.5</c:v>
                </c:pt>
                <c:pt idx="19">
                  <c:v>60.5</c:v>
                </c:pt>
                <c:pt idx="20">
                  <c:v>12</c:v>
                </c:pt>
                <c:pt idx="21">
                  <c:v>18.5</c:v>
                </c:pt>
                <c:pt idx="22">
                  <c:v>50.3</c:v>
                </c:pt>
                <c:pt idx="23">
                  <c:v>17.3</c:v>
                </c:pt>
                <c:pt idx="24">
                  <c:v>40.5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157.7</c:v>
                </c:pt>
                <c:pt idx="1">
                  <c:v>156.6</c:v>
                </c:pt>
                <c:pt idx="2">
                  <c:v>144.6</c:v>
                </c:pt>
                <c:pt idx="3">
                  <c:v>144.2</c:v>
                </c:pt>
                <c:pt idx="4">
                  <c:v>137.6</c:v>
                </c:pt>
                <c:pt idx="5">
                  <c:v>135.9</c:v>
                </c:pt>
                <c:pt idx="6">
                  <c:v>127.7</c:v>
                </c:pt>
                <c:pt idx="7">
                  <c:v>126.2</c:v>
                </c:pt>
                <c:pt idx="8">
                  <c:v>126.0</c:v>
                </c:pt>
                <c:pt idx="9">
                  <c:v>125.8</c:v>
                </c:pt>
                <c:pt idx="10">
                  <c:v>120.0</c:v>
                </c:pt>
                <c:pt idx="11">
                  <c:v>118.3</c:v>
                </c:pt>
                <c:pt idx="12">
                  <c:v>116.3</c:v>
                </c:pt>
                <c:pt idx="13">
                  <c:v>114.7</c:v>
                </c:pt>
                <c:pt idx="14">
                  <c:v>113.6</c:v>
                </c:pt>
                <c:pt idx="15">
                  <c:v>106.7</c:v>
                </c:pt>
                <c:pt idx="16">
                  <c:v>104.8</c:v>
                </c:pt>
                <c:pt idx="17">
                  <c:v>103.4</c:v>
                </c:pt>
                <c:pt idx="18">
                  <c:v>94.5</c:v>
                </c:pt>
                <c:pt idx="19">
                  <c:v>87.3</c:v>
                </c:pt>
                <c:pt idx="20">
                  <c:v>86.8</c:v>
                </c:pt>
                <c:pt idx="21">
                  <c:v>85.4</c:v>
                </c:pt>
                <c:pt idx="22">
                  <c:v>77.4</c:v>
                </c:pt>
                <c:pt idx="23">
                  <c:v>76.9</c:v>
                </c:pt>
                <c:pt idx="24">
                  <c:v>71.3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 i="0">
                    <a:solidFill>
                      <a:srgbClr val="6B7B8C"/>
                    </a:solidFill>
                    <a:latin typeface="Calibri"/>
                  </a:rPr>
                  <a:t>Battery capacity (kWh)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180.0"/>
          <c:min val="40.0"/>
        </c:scaling>
        <c:delete val="0"/>
        <c:axPos val="l"/>
        <c:title>
          <c:tx>
            <c:rich>
              <a:bodyPr/>
              <a:lstStyle/>
              <a:p>
                <a:r>
                  <a:rPr sz="1100" b="0" i="0">
                    <a:solidFill>
                      <a:srgbClr val="6B7B8C"/>
                    </a:solidFill>
                    <a:latin typeface="Calibri"/>
                  </a:rPr>
                  <a:t>Energy charged (thousand kWh)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dPt>
            <c:idx val="0"/>
            <c:spPr>
              <a:solidFill>
                <a:srgbClr val="0B4F9C"/>
              </a:solidFill>
            </c:spPr>
          </c:dPt>
          <c:dPt>
            <c:idx val="1"/>
            <c:spPr>
              <a:solidFill>
                <a:srgbClr val="B9C9D6"/>
              </a:solidFill>
            </c:spPr>
          </c:dPt>
          <c:dPt>
            <c:idx val="2"/>
            <c:spPr>
              <a:solidFill>
                <a:srgbClr val="00A99D"/>
              </a:solidFill>
            </c:spPr>
          </c:dPt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OPEX</c:v>
                </c:pt>
                <c:pt idx="2">
                  <c:v>EBITDA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4628.64</c:v>
                </c:pt>
                <c:pt idx="1">
                  <c:v>1390.11</c:v>
                </c:pt>
                <c:pt idx="2">
                  <c:v>3238.53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00.0"/>
          <c:min val="0.0"/>
        </c:scaling>
        <c:delete val="0"/>
        <c:axPos val="l"/>
        <c:majorGridlines>
          <c:spPr>
            <a:ln w="9525">
              <a:solidFill>
                <a:srgbClr val="D7E6F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Sheet1!$A$2:$A$11</c:f>
              <c:strCache>
                <c:ptCount val="10"/>
                <c:pt idx="0">
                  <c:v>BLR-PRJ007</c:v>
                </c:pt>
                <c:pt idx="1">
                  <c:v>BLR-PRJ017</c:v>
                </c:pt>
                <c:pt idx="2">
                  <c:v>BLR-PRJ012</c:v>
                </c:pt>
                <c:pt idx="3">
                  <c:v>BLR-PRJ002</c:v>
                </c:pt>
                <c:pt idx="4">
                  <c:v>BLR-PRJ022</c:v>
                </c:pt>
                <c:pt idx="5">
                  <c:v>BLR-PRJ008</c:v>
                </c:pt>
                <c:pt idx="6">
                  <c:v>BLR-PRJ015</c:v>
                </c:pt>
                <c:pt idx="7">
                  <c:v>BLR-PRJ097</c:v>
                </c:pt>
                <c:pt idx="8">
                  <c:v>BLR-PRJ047</c:v>
                </c:pt>
                <c:pt idx="9">
                  <c:v>BLR-PRJ054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497.48</c:v>
                </c:pt>
                <c:pt idx="1">
                  <c:v>487.04</c:v>
                </c:pt>
                <c:pt idx="2">
                  <c:v>484.75</c:v>
                </c:pt>
                <c:pt idx="3">
                  <c:v>348.29</c:v>
                </c:pt>
                <c:pt idx="4">
                  <c:v>310.46</c:v>
                </c:pt>
                <c:pt idx="5">
                  <c:v>307.48</c:v>
                </c:pt>
                <c:pt idx="6">
                  <c:v>268.75</c:v>
                </c:pt>
                <c:pt idx="7">
                  <c:v>258.84</c:v>
                </c:pt>
                <c:pt idx="8">
                  <c:v>255.85</c:v>
                </c:pt>
                <c:pt idx="9">
                  <c:v>254.76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5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/>
        <c:axPos val="b"/>
        <c:numFmt formatCode="#,##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dPt>
            <c:idx val="0"/>
            <c:spPr>
              <a:solidFill>
                <a:srgbClr val="00A99D"/>
              </a:solidFill>
            </c:spPr>
          </c:dPt>
          <c:dPt>
            <c:idx val="1"/>
            <c:spPr>
              <a:solidFill>
                <a:srgbClr val="0B4F9C"/>
              </a:solidFill>
            </c:spPr>
          </c:dPt>
          <c:dPt>
            <c:idx val="2"/>
            <c:spPr>
              <a:solidFill>
                <a:srgbClr val="0B4F9C"/>
              </a:solidFill>
            </c:spPr>
          </c:dPt>
          <c:dPt>
            <c:idx val="3"/>
            <c:spPr>
              <a:solidFill>
                <a:srgbClr val="0B4F9C"/>
              </a:solidFill>
            </c:spPr>
          </c:dPt>
          <c:dPt>
            <c:idx val="4"/>
            <c:spPr>
              <a:solidFill>
                <a:srgbClr val="0B4F9C"/>
              </a:solidFill>
            </c:spPr>
          </c:dPt>
          <c:dPt>
            <c:idx val="5"/>
            <c:spPr>
              <a:solidFill>
                <a:srgbClr val="0B4F9C"/>
              </a:solidFill>
            </c:spPr>
          </c:dPt>
          <c:dPt>
            <c:idx val="6"/>
            <c:spPr>
              <a:solidFill>
                <a:srgbClr val="0B4F9C"/>
              </a:solidFill>
            </c:spPr>
          </c:dPt>
          <c:dPt>
            <c:idx val="7"/>
            <c:spPr>
              <a:solidFill>
                <a:srgbClr val="0B4F9C"/>
              </a:solidFill>
            </c:spPr>
          </c:dPt>
          <c:dPt>
            <c:idx val="8"/>
            <c:spPr>
              <a:solidFill>
                <a:srgbClr val="0B4F9C"/>
              </a:solidFill>
            </c:spPr>
          </c:dPt>
          <c:dPt>
            <c:idx val="9"/>
            <c:spPr>
              <a:solidFill>
                <a:srgbClr val="B9C9D6"/>
              </a:solidFill>
            </c:spPr>
          </c:dPt>
          <c:cat>
            <c:strRef>
              <c:f>Sheet1!$A$2:$A$11</c:f>
              <c:strCache>
                <c:ptCount val="10"/>
                <c:pt idx="0">
                  <c:v>Bommanahalli</c:v>
                </c:pt>
                <c:pt idx="1">
                  <c:v>Electronic City</c:v>
                </c:pt>
                <c:pt idx="2">
                  <c:v>JP Nagar</c:v>
                </c:pt>
                <c:pt idx="3">
                  <c:v>HSR Layout</c:v>
                </c:pt>
                <c:pt idx="4">
                  <c:v>Marathahalli</c:v>
                </c:pt>
                <c:pt idx="5">
                  <c:v>Jayanagar</c:v>
                </c:pt>
                <c:pt idx="6">
                  <c:v>Banashankari</c:v>
                </c:pt>
                <c:pt idx="7">
                  <c:v>Yelahanka</c:v>
                </c:pt>
                <c:pt idx="8">
                  <c:v>Rajajinagar</c:v>
                </c:pt>
                <c:pt idx="9">
                  <c:v>Hebbal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1.33</c:v>
                </c:pt>
                <c:pt idx="1">
                  <c:v>0.78</c:v>
                </c:pt>
                <c:pt idx="2">
                  <c:v>0.66</c:v>
                </c:pt>
                <c:pt idx="3">
                  <c:v>0.57</c:v>
                </c:pt>
                <c:pt idx="4">
                  <c:v>0.53</c:v>
                </c:pt>
                <c:pt idx="5">
                  <c:v>0.49</c:v>
                </c:pt>
                <c:pt idx="6">
                  <c:v>0.45</c:v>
                </c:pt>
                <c:pt idx="7">
                  <c:v>0.42</c:v>
                </c:pt>
                <c:pt idx="8">
                  <c:v>0.33</c:v>
                </c:pt>
                <c:pt idx="9">
                  <c:v>0.19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5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/>
        <c:axPos val="b"/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dPt>
            <c:idx val="0"/>
            <c:spPr>
              <a:solidFill>
                <a:srgbClr val="00A99D"/>
              </a:solidFill>
            </c:spPr>
          </c:dPt>
          <c:dPt>
            <c:idx val="1"/>
            <c:spPr>
              <a:solidFill>
                <a:srgbClr val="00A99D"/>
              </a:solidFill>
            </c:spPr>
          </c:dPt>
          <c:dPt>
            <c:idx val="2"/>
            <c:spPr>
              <a:solidFill>
                <a:srgbClr val="3E7CC2"/>
              </a:solidFill>
            </c:spPr>
          </c:dPt>
          <c:dPt>
            <c:idx val="3"/>
            <c:spPr>
              <a:solidFill>
                <a:srgbClr val="0B4F9C"/>
              </a:solidFill>
            </c:spPr>
          </c:dPt>
          <c:cat>
            <c:strRef>
              <c:f>Sheet1!$A$2:$A$5</c:f>
              <c:strCache>
                <c:ptCount val="4"/>
                <c:pt idx="0">
                  <c:v>AC L2 (7.4 kW)</c:v>
                </c:pt>
                <c:pt idx="1">
                  <c:v>AC L2 (22 kW)</c:v>
                </c:pt>
                <c:pt idx="2">
                  <c:v>DC Fast (50 kW)</c:v>
                </c:pt>
                <c:pt idx="3">
                  <c:v>DC Ultra-Fast (150 kW)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5.7</c:v>
                </c:pt>
                <c:pt idx="3">
                  <c:v>9.6</c:v>
                </c:pt>
              </c:numCache>
            </c:numRef>
          </c:val>
        </c:ser>
        <c:dLbls>
          <c:numFmt formatCode="0.0&quot; yrs&quot;" sourceLinked="0"/>
          <c:txPr>
            <a:bodyPr/>
            <a:lstStyle/>
            <a:p>
              <a:pPr>
                <a:defRPr sz="11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 val="0"/>
        <c:axPos val="l"/>
        <c:majorGridlines>
          <c:spPr>
            <a:ln w="9525">
              <a:solidFill>
                <a:srgbClr val="D7E6F3"/>
              </a:solidFill>
            </a:ln>
          </c:spPr>
        </c:majorGridlines>
        <c:numFmt formatCode="0.0&quot; yrs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00A99D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E7CC2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9C9D6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7</c:v>
                </c:pt>
                <c:pt idx="2">
                  <c:v>37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8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9C"/>
            </a:solidFill>
          </c:spPr>
          <c:cat>
            <c:strRef>
              <c:f>Sheet1!$A$2:$A$19</c:f>
              <c:strCache>
                <c:ptCount val="18"/>
                <c:pt idx="0">
                  <c:v>Jayanagar</c:v>
                </c:pt>
                <c:pt idx="1">
                  <c:v>Rajajinagar</c:v>
                </c:pt>
                <c:pt idx="2">
                  <c:v>HSR Layout</c:v>
                </c:pt>
                <c:pt idx="3">
                  <c:v>Indiranagar</c:v>
                </c:pt>
                <c:pt idx="4">
                  <c:v>Koramangala</c:v>
                </c:pt>
                <c:pt idx="5">
                  <c:v>Yelahanka</c:v>
                </c:pt>
                <c:pt idx="6">
                  <c:v>Banashankari</c:v>
                </c:pt>
                <c:pt idx="7">
                  <c:v>Hebbal</c:v>
                </c:pt>
                <c:pt idx="8">
                  <c:v>Whitefield</c:v>
                </c:pt>
                <c:pt idx="9">
                  <c:v>Marathahalli</c:v>
                </c:pt>
                <c:pt idx="10">
                  <c:v>Kengeri</c:v>
                </c:pt>
                <c:pt idx="11">
                  <c:v>Bommanahalli</c:v>
                </c:pt>
                <c:pt idx="12">
                  <c:v>JP Nagar</c:v>
                </c:pt>
                <c:pt idx="13">
                  <c:v>Dasarahalli</c:v>
                </c:pt>
                <c:pt idx="14">
                  <c:v>Electronic City</c:v>
                </c:pt>
                <c:pt idx="15">
                  <c:v>Anekal</c:v>
                </c:pt>
                <c:pt idx="16">
                  <c:v>Rajarajeshwari Nagar</c:v>
                </c:pt>
                <c:pt idx="17">
                  <c:v>Byatarayanapura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79</c:v>
                </c:pt>
                <c:pt idx="1">
                  <c:v>73</c:v>
                </c:pt>
                <c:pt idx="2">
                  <c:v>70</c:v>
                </c:pt>
                <c:pt idx="3">
                  <c:v>67</c:v>
                </c:pt>
                <c:pt idx="4">
                  <c:v>64</c:v>
                </c:pt>
                <c:pt idx="5">
                  <c:v>61</c:v>
                </c:pt>
                <c:pt idx="6">
                  <c:v>52</c:v>
                </c:pt>
                <c:pt idx="7">
                  <c:v>43</c:v>
                </c:pt>
                <c:pt idx="8">
                  <c:v>37</c:v>
                </c:pt>
                <c:pt idx="9">
                  <c:v>28</c:v>
                </c:pt>
                <c:pt idx="10">
                  <c:v>28</c:v>
                </c:pt>
                <c:pt idx="11">
                  <c:v>18</c:v>
                </c:pt>
                <c:pt idx="12">
                  <c:v>15</c:v>
                </c:pt>
                <c:pt idx="13">
                  <c:v>12</c:v>
                </c:pt>
                <c:pt idx="14">
                  <c:v>9</c:v>
                </c:pt>
                <c:pt idx="15">
                  <c:v>9</c:v>
                </c:pt>
                <c:pt idx="16">
                  <c:v>6</c:v>
                </c:pt>
                <c:pt idx="17">
                  <c:v>6</c:v>
                </c:pt>
              </c:numCache>
            </c:numRef>
          </c:val>
        </c:ser>
        <c:dLbls>
          <c:numFmt formatCode="+0" sourceLinked="0"/>
          <c:txPr>
            <a:bodyPr/>
            <a:lstStyle/>
            <a:p>
              <a:pPr>
                <a:defRPr sz="1000" b="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E6F3"/>
            </a:solidFill>
          </a:ln>
        </c:spPr>
        <c:txPr>
          <a:bodyPr/>
          <a:lstStyle/>
          <a:p>
            <a:pPr>
              <a:defRPr sz="1000">
                <a:solidFill>
                  <a:srgbClr val="6B7B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/>
        <c:axPos val="b"/>
        <c:numFmt formatCode="+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B8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10 projects total Rs 3,473.70 lakh = 24.95% of Rs 13,921.62 lakh; top 3 (PRJ007, PRJ017, PRJ012) = 10.6%. District 5-year ROI from the ROI pivot (top 10 districts shown). Pivot grand total = 47% across visible districts; KPI card shows 16% for the portfolio, implying districts outside the top 10 dilute returns (inference; confirm).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Project 1: evaluate performance, profitability and expansion potential of Tata Power EV charging across Bengaluru districts. Data: 11 Aug - 8 Nov 2024. Tools: Excel, Power Query, DAX. Headline: 114,000 sessions; revenue Rs 4,96,93,947; payback 4.3 yrs; 35,200 projected EVs / 1,067 projected plugs = ~33.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KPIs: 114,000 sessions; 2,859,772 kWh; Rs 4,96,93,947 revenue (~Rs 17.4/kWh); 8,000 customers; Rs 435.91 per session; 25.09 kWh per session. Data runs 11 Aug - 8 Nov 2024 (90 days). Sessions: Aug 26,820 (21 days), Sep 38,604 (30), Oct 39,606 (31), Nov 8,970 (7 days plus one session at 00:00 on 8 Nov). Per day: 1,277 / 1,287 / 1,278 / 1,281; kWh per day ~32,100.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Hourly kWh: 08:00-15:59 = 1,440,089 kWh (50.4%), ~180k/hr; 16:00-19:59 = 568,794 (19.9%), ~142k/hr; 20:00-07:59 = 850,888 (29.8%), ~71k/hr. Sessions per plug by district 287.3 (Banashankari) to 297.0 (HSR Layout / Electronic City); network 292.3. Projected plugs 1,067 vs 390 = 2.7x; 35,200 projected EVs / 1,067 =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 per station = 114,000/65 = 1,754. Sessions per plug = 114,000/390 = 292. kWh per station = 2,859,772/65 = 43,996. Station sessions range 1,635 (station 75, -6.8%) to 1,862 (station 24, +6.2%); lowest also 155 and 151. Correction: the source dashboard divides sessions by the count of station rows (65) to show 1,754 as "sessions per plug", and shows 25.1 (kWh per session) as "Avg kWh/Station". Sessions per plug range 287.3 (Banashankari) to 297.0 (HSR Layout, Electronic 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Stations per district: 5 (Jayanagar, Rajajinagar, Indiranagar), 4 (seven districts), 3 (six), 2 (Byatarayanapura, Anekal). Total 65 stations, 6 plugs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Unique customers 8,000; sessions per customer 14.25; kWh per customer 357.47; revenue per customer Rs 6,211.74. Tiers: High 1,190 customers, Rs 1,28,69,467 (25.9%), 888,659 kWh (31.1%); Low-Mid 3,990, Rs 1,30,67,511 (26.3%), 943,603 kWh (33.0%); Mid-Range 2,820, Rs 2,37,56,969 (47.8%), 1,027,509 kWh (35.9%). Rs per kWh = revenue / 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kWh charged by EV model (25 models), battery kWh in brackets. Full list: Mahindra XUV400 EC Pro (39.4 kWh) 157,676; Hyundai Kona Electric (39.2 kWh) 156,561; Tata Punch EV (35 kWh) 144,611; Citroen eC3 (29.2 kWh) 144,204; Ampere Nexus (30 kWh) 137,595; Tata Nexon EV (30.2 kWh) 135,949; Tata Tigor EV Base (21.5 kWh) 127,719; Tata Tigor EV (26 kWh) 126,221; Ola S1 Pro (4W equiv) (22 kWh) 126,008; Tata Tiago EV (24 kWh) 125,787; Citroen eC3 Feel (29.2 kWh) 119,956; Hyundai Ioniq 5 (72.6 kWh) 118,304; Ather 450X (4W equiv) (20 kWh) 116,320; Kia EV6 (77.4 kWh) 114,689; Mercedes EQB (66.5 kWh) 113,597; Audi e-tron 55 (95 kWh) 106,653; Volvo XC40 Recharge (75 kWh) 104,819; Greaves Eltra (16 kWh) 103,431; BMW iX1 (66.5 kWh) 94,506; BYD Atto 3 Superior (60.5 kWh) 87,342; Hero Electric Optima (12 kWh) 86,786; Mahindra e2o Plus (18.5 kWh) 85,421; MG ZS EV Exclusive (50.3 kWh) 77,425; MG Comet EV (17.3 kWh) 76,867; Tata Nexon EV Max (40.5 kWh) 71,323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Bands: Small &lt;25 kWh (8 models, 848,340 kWh, avg 106,043); Mid 25-40 (8, 1,122,772, avg 140,347); Large 40-65 (3, 236,090, avg 78,697); Premium &gt;65 (6, 652,569, avg 108,762). Mid vs Small +32%, vs Large +78%; Premium vs Small +3%, vs Mid -22%. High-income tier: 888,659 kWh (31%), 26% of revenue, 9 of 25 models. No per-model vehicle counts in the pivots.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CAPEX 13,921.62 lakh; annual revenue 4,628.64; OPEX 1,390.11; EBITDA 3,238.53 (70.0% margin). Payback 4.3 yrs without subsidy, 4.1 with; 5-year ROI = (5 x EBITDA - CAPEX) / CAPEX = 16.3%. CAPEX / annual revenue = 3.0x. Land lease and infrastructure are within total CAPEX/OPEX; the pivots do not split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Payback with subsidy: AC Level-2 7.4 kW 2.0 yrs; AC Level-2 22 kW 3.0; DC Fast 50 kW 5.7; DC Ultra-Fast 150 kW 9.6. Portfolio 4.3 yrs without subsidy, 4.1 with. Priority tiers of 98 proposed sites: High 54 (55%), Medium 7 (7%), Low 37 (38%).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Plug gap = projected - existing plugs by district (total +677). 35,200 projected EVs / 1,067 projected plugs = 33; / 390 existing = 90. District totals: 229,300 projected EVs / 6,956 projected plugs = 33. Analyst prioritisation: Deploy first = ROI &gt;= 45% and gap &gt;= 50; Quick win = ROI &gt;= 50% and gap &lt; 50; Phase 2 = ROI 30-45% and gap &gt;= 60; Pilot only = ROI &lt; 30%. ROI exists for 10 districts only; Indiranagar (+67) and Koramangala (+64) are not scored.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Analyst view derived from the pivots: tier and district prioritisation, charger mix, pricing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www.linkedin.com/in/yavan-pratap-singh?utm_source=share_via&amp;utm_content=profile&amp;utm_medium=member_i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6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8.xml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9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11.xml"/><Relationship Id="rId4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14.xml"/><Relationship Id="rId4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notesSlide" Target="../notesSlides/notesSlide1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CFF0EC"/>
          </a:solidFill>
          <a:ln/>
        </p:spPr>
      </p:sp>
      <p:pic>
        <p:nvPicPr>
          <p:cNvPr id="4" name="Image 0" descr="/home/claude/tata_ppt/ta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300" kern="0" dirty="0">
                <a:solidFill>
                  <a:srgbClr val="0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</a:t>
            </a:r>
            <a:pPr algn="ctr" indent="0" marL="0">
              <a:buNone/>
            </a:pPr>
            <a:r>
              <a:rPr lang="en-US" sz="4600" b="1" spc="300" kern="0" dirty="0">
                <a:solidFill>
                  <a:srgbClr val="00A9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5175504" y="2807208"/>
            <a:ext cx="1828800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2953512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E7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5661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India's Electric Mobility Revolution — One Charge Point at a Time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92724" y="4206240"/>
            <a:ext cx="603504" cy="603504"/>
          </a:xfrm>
          <a:prstGeom prst="ellipse">
            <a:avLst/>
          </a:prstGeom>
          <a:solidFill>
            <a:srgbClr val="CFF0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92724" y="41879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44" dirty="0"/>
          </a:p>
        </p:txBody>
      </p:sp>
      <p:sp>
        <p:nvSpPr>
          <p:cNvPr id="11" name="Shape 8"/>
          <p:cNvSpPr/>
          <p:nvPr/>
        </p:nvSpPr>
        <p:spPr>
          <a:xfrm>
            <a:off x="7799832" y="525780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6F3"/>
            </a:solidFill>
            <a:prstDash val="solid"/>
          </a:ln>
          <a:effectLst>
            <a:outerShdw sx="100000" sy="100000" kx="0" ky="0" algn="bl" rotWithShape="0" blurRad="101600" dist="25400" dir="5400000">
              <a:srgbClr val="9DB6CC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74152" y="53675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074152" y="5596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Yavan Pratap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58613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13  •  WsCube Tech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60990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yavan.pratap13@gmail.com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074152" y="62727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</a:t>
            </a:r>
            <a:pPr indent="0" marL="0">
              <a:buNone/>
            </a:pPr>
            <a:r>
              <a:rPr lang="en-US" sz="850" u="sng" dirty="0">
                <a:solidFill>
                  <a:srgbClr val="3E7CC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linkedin.com/in/yavan-pratap-singh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Project brief and executive summary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3"/>
                </a:solidFill>
                <a:latin typeface="Calibri"/>
              </a:rPr>
              <a:t>Evaluate the performance, profitability and expansion potential of Tata Power's EV charging network across 18 Bengaluru districts, to guide expansion, pricing and infrastructure investment.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606040" cy="4572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A99D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Business and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377440"/>
            <a:ext cx="2606040" cy="4572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A99D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Station utilisation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2377440"/>
            <a:ext cx="2606040" cy="4572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377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A99D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399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and 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2377440"/>
            <a:ext cx="2606040" cy="45720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79" y="2377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A99D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Financial and expansion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906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A99D"/>
                </a:solidFill>
                <a:latin typeface="Cambria"/>
              </a:rPr>
              <a:t>114,000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30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6B7B8C"/>
                </a:solidFill>
                <a:latin typeface="Calibri"/>
              </a:rPr>
              <a:t>charging sessions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01752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0906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A99D"/>
                </a:solidFill>
                <a:latin typeface="Cambria"/>
              </a:rPr>
              <a:t>₹4.97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730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6B7B8C"/>
                </a:solidFill>
                <a:latin typeface="Calibri"/>
              </a:rPr>
              <a:t>charging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79" y="301752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30906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A99D"/>
                </a:solidFill>
                <a:latin typeface="Cambria"/>
              </a:rPr>
              <a:t>4.3 yrs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3730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6B7B8C"/>
                </a:solidFill>
                <a:latin typeface="Calibri"/>
              </a:rPr>
              <a:t>payback (no subsidy)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399" y="301752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39" y="30906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A99D"/>
                </a:solidFill>
                <a:latin typeface="Cambria"/>
              </a:rPr>
              <a:t>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39" y="3730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6B7B8C"/>
                </a:solidFill>
                <a:latin typeface="Calibri"/>
              </a:rPr>
              <a:t>projected EVs per planned plug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5262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800"/>
              </a:spcAft>
              <a:buClr>
                <a:srgbClr val="00A99D"/>
              </a:buClr>
              <a:buFont typeface="Arial"/>
              <a:buChar char="•"/>
            </a:pPr>
            <a:r>
              <a:rPr sz="1350" b="1" i="0">
                <a:solidFill>
                  <a:srgbClr val="0B4F9C"/>
                </a:solidFill>
                <a:latin typeface="Calibri"/>
              </a:rPr>
              <a:t>Demand is steady, not growing.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Sessions hold at ~1,280 a day in every month (11 Aug–8 Nov 2024); 08:00–15:59 carries half of all energy.</a:t>
            </a:r>
          </a:p>
          <a:p>
            <a:pPr algn="l" marL="219456" indent="-219456">
              <a:lnSpc>
                <a:spcPct val="105000"/>
              </a:lnSpc>
              <a:spcAft>
                <a:spcPts val="800"/>
              </a:spcAft>
              <a:buClr>
                <a:srgbClr val="00A99D"/>
              </a:buClr>
              <a:buFont typeface="Arial"/>
              <a:buChar char="•"/>
            </a:pPr>
            <a:r>
              <a:rPr sz="1350" b="1" i="0">
                <a:solidFill>
                  <a:srgbClr val="0B4F9C"/>
                </a:solidFill>
                <a:latin typeface="Calibri"/>
              </a:rPr>
              <a:t>Load is even, so expansion follows demand.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Every district sits at 287–297 sessions per plug; the case for growth is 35,200 projected EVs against 390 plugs (1,067 planned).</a:t>
            </a:r>
          </a:p>
          <a:p>
            <a:pPr algn="l" marL="219456" indent="-219456">
              <a:lnSpc>
                <a:spcPct val="105000"/>
              </a:lnSpc>
              <a:spcAft>
                <a:spcPts val="800"/>
              </a:spcAft>
              <a:buClr>
                <a:srgbClr val="00A99D"/>
              </a:buClr>
              <a:buFont typeface="Arial"/>
              <a:buChar char="•"/>
            </a:pPr>
            <a:r>
              <a:rPr sz="1350" b="1" i="0">
                <a:solidFill>
                  <a:srgbClr val="0B4F9C"/>
                </a:solidFill>
                <a:latin typeface="Calibri"/>
              </a:rPr>
              <a:t>Returns are good but uneven.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5-year ROI is 16% with a 4.3-year payback; Bommanahalli (133%) and Electronic City (78%) lead; 150 kW ultra-fast needs 9.6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1 · BUSINESS AND USAGE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Steady demand: ~1,280 sessions a day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A99D"/>
                </a:solidFill>
                <a:latin typeface="Cambria"/>
              </a:rPr>
              <a:t>114,000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0637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Total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737360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28800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A99D"/>
                </a:solidFill>
                <a:latin typeface="Cambria"/>
              </a:rPr>
              <a:t>28.6 lakh 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0637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Energy consumed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A99D"/>
                </a:solidFill>
                <a:latin typeface="Cambria"/>
              </a:rPr>
              <a:t>₹4.97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1513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Charging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246120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337560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A99D"/>
                </a:solidFill>
                <a:latin typeface="Cambria"/>
              </a:rPr>
              <a:t>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01513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Active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79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19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A99D"/>
                </a:solidFill>
                <a:latin typeface="Cambria"/>
              </a:rPr>
              <a:t>₹435.91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2389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Revenue per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4754879"/>
            <a:ext cx="24231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4846319"/>
            <a:ext cx="2240279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A99D"/>
                </a:solidFill>
                <a:latin typeface="Cambria"/>
              </a:rPr>
              <a:t>25.09 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523890"/>
            <a:ext cx="2240279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Energy per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737360"/>
            <a:ext cx="5788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920240"/>
            <a:ext cx="5239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Sessions per day by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212848"/>
            <a:ext cx="52395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Aug counted from 11 Aug, Nov to 7 Nov</a:t>
            </a:r>
          </a:p>
        </p:txBody>
      </p:sp>
      <p:graphicFrame>
        <p:nvGraphicFramePr>
          <p:cNvPr id="28" name="Chart: sessions per day"/>
          <p:cNvGraphicFramePr>
            <a:graphicFrameLocks noGrp="1"/>
          </p:cNvGraphicFramePr>
          <p:nvPr/>
        </p:nvGraphicFramePr>
        <p:xfrm>
          <a:off x="6035040" y="2514600"/>
          <a:ext cx="5422392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852160" y="5029200"/>
            <a:ext cx="57881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600"/>
              </a:spcAft>
              <a:buClr>
                <a:srgbClr val="00A99D"/>
              </a:buClr>
              <a:buFont typeface="Arial"/>
              <a:buChar char="•"/>
            </a:pPr>
            <a:r>
              <a:rPr sz="1250" b="0" i="0">
                <a:solidFill>
                  <a:srgbClr val="1F2933"/>
                </a:solidFill>
                <a:latin typeface="Calibri"/>
              </a:rPr>
              <a:t>Monthly totals rise (26,820 → 39,606) only because August and November are part-months.</a:t>
            </a:r>
          </a:p>
          <a:p>
            <a:pPr algn="l" marL="219456" indent="-219456">
              <a:lnSpc>
                <a:spcPct val="110000"/>
              </a:lnSpc>
              <a:spcAft>
                <a:spcPts val="600"/>
              </a:spcAft>
              <a:buClr>
                <a:srgbClr val="00A99D"/>
              </a:buClr>
              <a:buFont typeface="Arial"/>
              <a:buChar char="•"/>
            </a:pPr>
            <a:r>
              <a:rPr sz="1250" b="0" i="0">
                <a:solidFill>
                  <a:srgbClr val="1F2933"/>
                </a:solidFill>
                <a:latin typeface="Calibri"/>
              </a:rPr>
              <a:t>Per day, demand holds at ~1,280 sessions and ~32,100 kWh, within ±1% in every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1 · BUSINESS AND USAGE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Half of energy is charged 08:00–15:59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6858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Energy charged by hour of day (kWh)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Teal = daytime peak, blue = evening, grey = overnight</a:t>
            </a:r>
          </a:p>
        </p:txBody>
      </p:sp>
      <p:graphicFrame>
        <p:nvGraphicFramePr>
          <p:cNvPr id="10" name="Chart: kWh by hour"/>
          <p:cNvGraphicFramePr>
            <a:graphicFrameLocks noGrp="1"/>
          </p:cNvGraphicFramePr>
          <p:nvPr/>
        </p:nvGraphicFramePr>
        <p:xfrm>
          <a:off x="731520" y="2514600"/>
          <a:ext cx="649224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89520" y="1737360"/>
            <a:ext cx="4050791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1865376"/>
            <a:ext cx="182880" cy="182880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Daytime peak  08:00–15:59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488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of energy charged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~180k kWh per hour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834639"/>
            <a:ext cx="4050791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0" y="2962656"/>
            <a:ext cx="182880" cy="182880"/>
          </a:xfrm>
          <a:prstGeom prst="ellipse">
            <a:avLst/>
          </a:prstGeom>
          <a:solidFill>
            <a:srgbClr val="3E7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907791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Evening  16:00–19:59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461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of energy charged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~142k kWh per hour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931920"/>
            <a:ext cx="4050791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0" y="4059935"/>
            <a:ext cx="182880" cy="182880"/>
          </a:xfrm>
          <a:prstGeom prst="ellipse">
            <a:avLst/>
          </a:prstGeom>
          <a:solidFill>
            <a:srgbClr val="B9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00507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Overnight  20:00–07:59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3434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343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of energy charged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~71k kWh per hour (39% of peak)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3520440" cy="11430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3258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0A99D"/>
                </a:solidFill>
                <a:latin typeface="Cambria"/>
              </a:rPr>
              <a:t>~1,280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193792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Demand is flat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Sessions per day are steady in every month.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5120640"/>
            <a:ext cx="3520440" cy="11430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5120640"/>
            <a:ext cx="13258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0A99D"/>
                </a:solidFill>
                <a:latin typeface="Cambria"/>
              </a:rPr>
              <a:t>287–297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5193792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Load is evenly spread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Sessions per plug within ±2% in all 18 districts (avg 292).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5120640"/>
            <a:ext cx="3520440" cy="11430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1" y="5120640"/>
            <a:ext cx="13258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0A99D"/>
                </a:solidFill>
                <a:latin typeface="Cambria"/>
              </a:rPr>
              <a:t>2.7×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1" y="5193792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Capacity is a build decision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1,067 planned vs 390 plugs today (~33 EVs per planned plug).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2 · STATION UTILISATION AND EFFICIENCY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65 stations, 390 plugs, evenly loaded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4231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240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A99D"/>
                </a:solidFill>
                <a:latin typeface="Cambria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6817"/>
            <a:ext cx="2240279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Stations, 18 districts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737360"/>
            <a:ext cx="24231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28800"/>
            <a:ext cx="2240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A99D"/>
                </a:solidFill>
                <a:latin typeface="Cambria"/>
              </a:rPr>
              <a:t>390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26817"/>
            <a:ext cx="2240279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Plugs, 6 per 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24231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2240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A99D"/>
                </a:solidFill>
                <a:latin typeface="Cambria"/>
              </a:rPr>
              <a:t>1,754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8417"/>
            <a:ext cx="2240279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Sessions per 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108960"/>
            <a:ext cx="24231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200400"/>
            <a:ext cx="2240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A99D"/>
                </a:solidFill>
                <a:latin typeface="Cambria"/>
              </a:rPr>
              <a:t>292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798417"/>
            <a:ext cx="2240279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Sessions per plug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C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4F9C"/>
                </a:solidFill>
                <a:latin typeface="Cambria"/>
              </a:rPr>
              <a:t>43,996 kWh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 per station   </a:t>
            </a:r>
            <a:r>
              <a:rPr sz="1500" b="1" i="0">
                <a:solidFill>
                  <a:srgbClr val="0B4F9C"/>
                </a:solidFill>
                <a:latin typeface="Cambria"/>
              </a:rPr>
              <a:t>25.1 kWh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 per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150" b="0" i="0">
                <a:solidFill>
                  <a:srgbClr val="1F2933"/>
                </a:solidFill>
                <a:latin typeface="Calibri"/>
              </a:rPr>
              <a:t>Stations sit within −6.8% to +6.2% of average (station 24 highest at 1,862; station 75 lowest at 1,635). No clear outlier.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150" b="0" i="0">
                <a:solidFill>
                  <a:srgbClr val="1F2933"/>
                </a:solidFill>
                <a:latin typeface="Calibri"/>
              </a:rPr>
              <a:t>Lowest-loaded: stations 75, 155, 151, candidates for an operational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B7B8C"/>
                </a:solidFill>
                <a:latin typeface="Calibri"/>
              </a:rPr>
              <a:t>Corrected: the source dashboard's "1,754 per plug" is per station, and "25.1 per station" is per session.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737360"/>
            <a:ext cx="587959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920240"/>
            <a:ext cx="53309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Sessions per plug by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212848"/>
            <a:ext cx="53309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Range 287–297: within ±2% of the 292 average</a:t>
            </a:r>
          </a:p>
        </p:txBody>
      </p:sp>
      <p:graphicFrame>
        <p:nvGraphicFramePr>
          <p:cNvPr id="26" name="Chart: sessions per plug"/>
          <p:cNvGraphicFramePr>
            <a:graphicFrameLocks noGrp="1"/>
          </p:cNvGraphicFramePr>
          <p:nvPr/>
        </p:nvGraphicFramePr>
        <p:xfrm>
          <a:off x="5943600" y="2514600"/>
          <a:ext cx="5513831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2 · STATION UTILISATION AND EFFICIENCY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District scorecard: stations, plugs and sessions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graphicFrame>
        <p:nvGraphicFramePr>
          <p:cNvPr id="7" name="Table: districts 1-9"/>
          <p:cNvGraphicFramePr>
            <a:graphicFrameLocks noGrp="1"/>
          </p:cNvGraphicFramePr>
          <p:nvPr/>
        </p:nvGraphicFramePr>
        <p:xfrm>
          <a:off x="548640" y="1737360"/>
          <a:ext cx="534924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822960"/>
                <a:gridCol w="731520"/>
                <a:gridCol w="914400"/>
                <a:gridCol w="9601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Stations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Plugs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Sess / plug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Indiranagar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8,901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Rajajinagar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8,867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296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Jayanagar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8,664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Electronic City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7,127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HSR Layout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7,127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Marathahalli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7,024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JP Nagar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6,988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Koramangala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6,957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Whitefield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6,934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: districts 10-18"/>
          <p:cNvGraphicFramePr>
            <a:graphicFrameLocks noGrp="1"/>
          </p:cNvGraphicFramePr>
          <p:nvPr/>
        </p:nvGraphicFramePr>
        <p:xfrm>
          <a:off x="6291072" y="1737360"/>
          <a:ext cx="534924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822960"/>
                <a:gridCol w="731520"/>
                <a:gridCol w="914400"/>
                <a:gridCol w="9601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Stations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Plugs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Sess / plug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Banashankari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6,896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Yelahanka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5,325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296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Kengeri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5,290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Bommanahalli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5,285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Dasarahalli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5,214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Hebbal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5,210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Rajarajeshwari Nagar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5,184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Byatarayanapura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3,551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296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Anekal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3,456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4000"/>
            </a:avLst>
          </a:prstGeom>
          <a:solidFill>
            <a:srgbClr val="C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4F9C"/>
                </a:solidFill>
                <a:latin typeface="Calibri"/>
              </a:rPr>
              <a:t>Network: 65 stations · 390 plugs · 114,000 sessions · 292 per plug</a:t>
            </a:r>
          </a:p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Density: 3 districts with 5 stations, 7 with 4, 6 with 3; Byatarayanapura and Anekal have 2 and the fewest sessions.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3 · CUSTOMER AND DEMAND BEHAVIOUR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Mid-range tier drives 48% of revenue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3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A99D"/>
                </a:solidFill>
                <a:latin typeface="Cambria"/>
              </a:rPr>
              <a:t>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0300"/>
            <a:ext cx="2377439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Unique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3736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37743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A99D"/>
                </a:solidFill>
                <a:latin typeface="Cambria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00300"/>
            <a:ext cx="2377439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Sessions per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37743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A99D"/>
                </a:solidFill>
                <a:latin typeface="Cambria"/>
              </a:rPr>
              <a:t>357.5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0459"/>
            <a:ext cx="2377439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Energy per 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0175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108960"/>
            <a:ext cx="237743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A99D"/>
                </a:solidFill>
                <a:latin typeface="Cambria"/>
              </a:rPr>
              <a:t>₹6,211.74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680459"/>
            <a:ext cx="2377439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Revenue per customer</a:t>
            </a:r>
          </a:p>
        </p:txBody>
      </p:sp>
      <p:graphicFrame>
        <p:nvGraphicFramePr>
          <p:cNvPr id="19" name="Table"/>
          <p:cNvGraphicFramePr>
            <a:graphicFrameLocks noGrp="1"/>
          </p:cNvGraphicFramePr>
          <p:nvPr/>
        </p:nvGraphicFramePr>
        <p:xfrm>
          <a:off x="548640" y="4434840"/>
          <a:ext cx="5303520" cy="1737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280160"/>
                <a:gridCol w="1005840"/>
                <a:gridCol w="1005840"/>
                <a:gridCol w="822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Revenue ₹ L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Rev. share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kWh share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₹ / kWh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128.69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₹14.48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Low-Mid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130.68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₹13.85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Mid-Range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237.57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0A99D"/>
                          </a:solidFill>
                          <a:latin typeface="Calibri"/>
                        </a:rPr>
                        <a:t>₹23.12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CF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496.94</a:t>
                      </a:r>
                    </a:p>
                  </a:txBody>
                  <a:tcPr marL="91440" marR="91440" marT="27432" marB="27432" anchor="ctr">
                    <a:solidFill>
                      <a:srgbClr val="CF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27432" marB="27432" anchor="ctr">
                    <a:solidFill>
                      <a:srgbClr val="CF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27432" marB="27432" anchor="ctr">
                    <a:solidFill>
                      <a:srgbClr val="CF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₹17.38</a:t>
                      </a:r>
                    </a:p>
                  </a:txBody>
                  <a:tcPr marL="91440" marR="91440" marT="27432" marB="27432" anchor="ctr">
                    <a:solidFill>
                      <a:srgbClr val="CFF0E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217920" y="1737360"/>
            <a:ext cx="5422392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Share of revenue vs share of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12848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by income tier</a:t>
            </a:r>
          </a:p>
        </p:txBody>
      </p:sp>
      <p:graphicFrame>
        <p:nvGraphicFramePr>
          <p:cNvPr id="23" name="Chart: income tier shares"/>
          <p:cNvGraphicFramePr>
            <a:graphicFrameLocks noGrp="1"/>
          </p:cNvGraphicFramePr>
          <p:nvPr/>
        </p:nvGraphicFramePr>
        <p:xfrm>
          <a:off x="6400800" y="2514600"/>
          <a:ext cx="5056631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17920" y="4937760"/>
            <a:ext cx="54223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Mid-range pays ₹23.12 per kWh against ₹13.85–14.48 for the other tiers.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High-income customers charge the least (31% of kWh).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Test whether tariff, charger type or time of day explains the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3 · CUSTOMER AND DEMAND BEHAVIOUR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Mid-battery EVs drive the most energy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25 EV models, fleet-average battery 31.4 kWh. Total kWh charged, battery capacity in brackets; the top two models both have ~39 kWh packs.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422392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231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Top 8 models by energy charged</a:t>
            </a:r>
          </a:p>
        </p:txBody>
      </p:sp>
      <p:graphicFrame>
        <p:nvGraphicFramePr>
          <p:cNvPr id="10" name="Chart: Top 8 models by energy charged"/>
          <p:cNvGraphicFramePr>
            <a:graphicFrameLocks noGrp="1"/>
          </p:cNvGraphicFramePr>
          <p:nvPr/>
        </p:nvGraphicFramePr>
        <p:xfrm>
          <a:off x="731520" y="2834640"/>
          <a:ext cx="5056631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2240280"/>
            <a:ext cx="5422392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Bottom 8 models by energy charged</a:t>
            </a:r>
          </a:p>
        </p:txBody>
      </p:sp>
      <p:graphicFrame>
        <p:nvGraphicFramePr>
          <p:cNvPr id="13" name="Chart: Bottom 8 models by energy charged"/>
          <p:cNvGraphicFramePr>
            <a:graphicFrameLocks noGrp="1"/>
          </p:cNvGraphicFramePr>
          <p:nvPr/>
        </p:nvGraphicFramePr>
        <p:xfrm>
          <a:off x="6400800" y="2834640"/>
          <a:ext cx="5056631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3 · CUSTOMER AND DEMAND BEHAVIOUR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Usage peaks at 25–40 kWh batteries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5120640" cy="1737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822960"/>
                <a:gridCol w="118872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Battery band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Total kWh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Avg / model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Small  &lt;25 kWh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848k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106k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Mid  25–40 kWh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1,123k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0A99D"/>
                          </a:solidFill>
                          <a:latin typeface="Calibri"/>
                        </a:rPr>
                        <a:t>140k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Large  40–65 kWh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236k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79k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Premium  &gt;65 kWh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653k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109k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11880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02000"/>
              </a:lnSpc>
              <a:spcAft>
                <a:spcPts val="500"/>
              </a:spcAft>
              <a:buClr>
                <a:srgbClr val="00A99D"/>
              </a:buClr>
              <a:buFont typeface="Arial"/>
              <a:buChar char="•"/>
            </a:pPr>
            <a:r>
              <a:rPr sz="1200" b="1" i="0">
                <a:solidFill>
                  <a:srgbClr val="0B4F9C"/>
                </a:solidFill>
                <a:latin typeface="Calibri"/>
              </a:rPr>
              <a:t>Bigger is not busier: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Mid-size packs average 140k kWh per model, 32% above Small and 78% above Large.</a:t>
            </a:r>
          </a:p>
          <a:p>
            <a:pPr algn="l" marL="219456" indent="-219456">
              <a:lnSpc>
                <a:spcPct val="102000"/>
              </a:lnSpc>
              <a:spcAft>
                <a:spcPts val="500"/>
              </a:spcAft>
              <a:buClr>
                <a:srgbClr val="00A99D"/>
              </a:buClr>
              <a:buFont typeface="Arial"/>
              <a:buChar char="•"/>
            </a:pPr>
            <a:r>
              <a:rPr sz="1200" b="1" i="0">
                <a:solidFill>
                  <a:srgbClr val="0B4F9C"/>
                </a:solidFill>
                <a:latin typeface="Calibri"/>
              </a:rPr>
              <a:t>Large-battery EVs (40–65 kWh):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lowest use, 79k per model; Nexon EV Max 71k, MG ZS EV 77k, BYD Atto 3 87k.</a:t>
            </a:r>
          </a:p>
          <a:p>
            <a:pPr algn="l" marL="219456" indent="-219456">
              <a:lnSpc>
                <a:spcPct val="102000"/>
              </a:lnSpc>
              <a:spcAft>
                <a:spcPts val="500"/>
              </a:spcAft>
              <a:buClr>
                <a:srgbClr val="00A99D"/>
              </a:buClr>
              <a:buFont typeface="Arial"/>
              <a:buChar char="•"/>
            </a:pPr>
            <a:r>
              <a:rPr sz="1200" b="1" i="0">
                <a:solidFill>
                  <a:srgbClr val="0B4F9C"/>
                </a:solidFill>
                <a:latin typeface="Calibri"/>
              </a:rPr>
              <a:t>Premium EVs (&gt;65 kWh):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~22% below mid-size despite the biggest packs: a DC-fast opportunity.</a:t>
            </a:r>
          </a:p>
          <a:p>
            <a:pPr algn="l" marL="219456" indent="-219456">
              <a:lnSpc>
                <a:spcPct val="102000"/>
              </a:lnSpc>
              <a:spcAft>
                <a:spcPts val="500"/>
              </a:spcAft>
              <a:buClr>
                <a:srgbClr val="00A99D"/>
              </a:buClr>
              <a:buFont typeface="Arial"/>
              <a:buChar char="•"/>
            </a:pPr>
            <a:r>
              <a:rPr sz="1200" b="1" i="0">
                <a:solidFill>
                  <a:srgbClr val="0B4F9C"/>
                </a:solidFill>
                <a:latin typeface="Calibri"/>
              </a:rPr>
              <a:t>High-income tier: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9 of 25 models but 31% of energy and 26% of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Potential is judged from energy totals; the pivots have no vehicle count per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37360"/>
            <a:ext cx="569671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148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Battery capacity vs energy charged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12848"/>
            <a:ext cx="51480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each dot is one EV model</a:t>
            </a:r>
          </a:p>
        </p:txBody>
      </p:sp>
      <p:graphicFrame>
        <p:nvGraphicFramePr>
          <p:cNvPr id="13" name="Chart: battery vs kWh"/>
          <p:cNvGraphicFramePr>
            <a:graphicFrameLocks noGrp="1"/>
          </p:cNvGraphicFramePr>
          <p:nvPr/>
        </p:nvGraphicFramePr>
        <p:xfrm>
          <a:off x="6126480" y="2514600"/>
          <a:ext cx="5330952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4 · FINANCIAL PERFORMANCE AND EXPANSION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₹139 Cr CAPEX earns ₹32 Cr EBITDA a year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₹13,922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Total CAPEX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₹4,629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Annual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1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₹3,239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Annual EBITDA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4.3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Payback, no subsidy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3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4.1 yrs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Payback, subsidy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19" y="1737360"/>
            <a:ext cx="1737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9" y="18288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00A99D"/>
                </a:solidFill>
                <a:latin typeface="Cambria"/>
              </a:rPr>
              <a:t>16%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426817"/>
            <a:ext cx="1554480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B8C"/>
                </a:solidFill>
                <a:latin typeface="Calibri"/>
              </a:rPr>
              <a:t>5-year ROI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5943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2918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Annual revenue, OPEX and EBITDA (₹ lakh)</a:t>
            </a:r>
          </a:p>
        </p:txBody>
      </p:sp>
      <p:graphicFrame>
        <p:nvGraphicFramePr>
          <p:cNvPr id="27" name="Chart: revenue OPEX EBITDA"/>
          <p:cNvGraphicFramePr>
            <a:graphicFrameLocks noGrp="1"/>
          </p:cNvGraphicFramePr>
          <p:nvPr/>
        </p:nvGraphicFramePr>
        <p:xfrm>
          <a:off x="731520" y="3703320"/>
          <a:ext cx="5577840" cy="23774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675120" y="3108960"/>
            <a:ext cx="496519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10896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70.0%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108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EBITDA margin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₹3,239 L on ₹4,629 L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160520"/>
            <a:ext cx="496519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16052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30.0%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1605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OPEX share of revenue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₹1,390 L a year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5212079"/>
            <a:ext cx="496519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212079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00A99D"/>
                </a:solidFill>
                <a:latin typeface="Cambria"/>
              </a:rPr>
              <a:t>3.0×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21207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4F9C"/>
                </a:solidFill>
                <a:latin typeface="Calibri"/>
              </a:rPr>
              <a:t>CAPEX ÷ annual revenue</a:t>
            </a:r>
          </a:p>
          <a:p>
            <a:pPr algn="l"/>
            <a:r>
              <a:rPr sz="1100" b="0" i="0">
                <a:solidFill>
                  <a:srgbClr val="6B7B8C"/>
                </a:solidFill>
                <a:latin typeface="Calibri"/>
              </a:rPr>
              <a:t>why payback is 4.3 years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6263640"/>
            <a:ext cx="4965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B7B8C"/>
                </a:solidFill>
                <a:latin typeface="Calibri"/>
              </a:rPr>
              <a:t>Land lease and infrastructure sit inside total CAPEX/OPEX; the pivots do not split them 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4 · FINANCIAL PERFORMANCE AND EXPANSION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CAPEX is concentrated; ROI varies widely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406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Top 10 projects by CAPEX (₹ lakh)</a:t>
            </a:r>
          </a:p>
        </p:txBody>
      </p:sp>
      <p:graphicFrame>
        <p:nvGraphicFramePr>
          <p:cNvPr id="9" name="Chart: top 10 CAPEX"/>
          <p:cNvGraphicFramePr>
            <a:graphicFrameLocks noGrp="1"/>
          </p:cNvGraphicFramePr>
          <p:nvPr/>
        </p:nvGraphicFramePr>
        <p:xfrm>
          <a:off x="731520" y="2331720"/>
          <a:ext cx="507492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99632" y="1737360"/>
            <a:ext cx="54406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20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5-year ROI by district (top 10)</a:t>
            </a:r>
          </a:p>
        </p:txBody>
      </p:sp>
      <p:graphicFrame>
        <p:nvGraphicFramePr>
          <p:cNvPr id="12" name="Chart: ROI by district"/>
          <p:cNvGraphicFramePr>
            <a:graphicFrameLocks noGrp="1"/>
          </p:cNvGraphicFramePr>
          <p:nvPr/>
        </p:nvGraphicFramePr>
        <p:xfrm>
          <a:off x="6382512" y="2331720"/>
          <a:ext cx="5074920" cy="27889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94960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Ten projects hold ₹3,474 L (25% of CAPEX); the top 3 hold 10.6%.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Returns on a few big builds move portfolio payback: stage-gate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394960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Bommanahalli 133%, Electronic City 78%, JP Nagar 66%; Hebbal 19% trails.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Top-10 districts blend to 47% vs 16% portfolio-wide: other districts dilute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4 · FINANCIAL PERFORMANCE AND EXPANSION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Payback is 2–10 years; 54 sites are High priority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630936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Payback period with subsidy (years)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by charger type</a:t>
            </a:r>
          </a:p>
        </p:txBody>
      </p:sp>
      <p:graphicFrame>
        <p:nvGraphicFramePr>
          <p:cNvPr id="10" name="Chart: payback by charger"/>
          <p:cNvGraphicFramePr>
            <a:graphicFrameLocks noGrp="1"/>
          </p:cNvGraphicFramePr>
          <p:nvPr/>
        </p:nvGraphicFramePr>
        <p:xfrm>
          <a:off x="731520" y="2514600"/>
          <a:ext cx="594360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040880" y="1737360"/>
            <a:ext cx="4599432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4050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Proposed sites by priority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12848"/>
            <a:ext cx="40507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B8C"/>
                </a:solidFill>
                <a:latin typeface="Calibri"/>
              </a:rPr>
              <a:t>98 sites</a:t>
            </a:r>
          </a:p>
        </p:txBody>
      </p:sp>
      <p:graphicFrame>
        <p:nvGraphicFramePr>
          <p:cNvPr id="14" name="Chart: priority tiers"/>
          <p:cNvGraphicFramePr>
            <a:graphicFrameLocks noGrp="1"/>
          </p:cNvGraphicFramePr>
          <p:nvPr/>
        </p:nvGraphicFramePr>
        <p:xfrm>
          <a:off x="7223760" y="2514600"/>
          <a:ext cx="4233672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48640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Portfolio payback 4.3 yrs (4.1 with subsidy, only ~0.2 yr saved).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AC pays back in 2–3 yrs; 150 kW ultra-fast needs 9.6, beyond a 5-year horizon.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486400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High 54 (55%): deploy first. Medium 7 (7%): stage after.</a:t>
            </a:r>
          </a:p>
          <a:p>
            <a:pPr algn="l" marL="219456" indent="-219456">
              <a:lnSpc>
                <a:spcPct val="110000"/>
              </a:lnSpc>
              <a:spcAft>
                <a:spcPts val="400"/>
              </a:spcAft>
              <a:buClr>
                <a:srgbClr val="00A99D"/>
              </a:buClr>
              <a:buFont typeface="Arial"/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Low 37 (38%): defer or re-test the demand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4 · FINANCIAL PERFORMANCE AND EXPANSION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Where to deploy: demand gap × ROI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1672" cy="640080"/>
          </a:xfrm>
          <a:prstGeom prst="roundRect">
            <a:avLst>
              <a:gd name="adj" fmla="val 4000"/>
            </a:avLst>
          </a:prstGeom>
          <a:solidFill>
            <a:srgbClr val="C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4F9C"/>
                </a:solidFill>
                <a:latin typeface="Cambria"/>
              </a:rPr>
              <a:t>390</a:t>
            </a:r>
            <a:r>
              <a:rPr sz="1250" b="0" i="0">
                <a:solidFill>
                  <a:srgbClr val="1F2933"/>
                </a:solidFill>
                <a:latin typeface="Calibri"/>
              </a:rPr>
              <a:t> plugs today  →  </a:t>
            </a:r>
            <a:r>
              <a:rPr sz="1800" b="1" i="0">
                <a:solidFill>
                  <a:srgbClr val="0B4F9C"/>
                </a:solidFill>
                <a:latin typeface="Cambria"/>
              </a:rPr>
              <a:t>1,067</a:t>
            </a:r>
            <a:r>
              <a:rPr sz="1250" b="0" i="0">
                <a:solidFill>
                  <a:srgbClr val="1F2933"/>
                </a:solidFill>
                <a:latin typeface="Calibri"/>
              </a:rPr>
              <a:t> projected (+677, 2.7×)     </a:t>
            </a:r>
            <a:r>
              <a:rPr sz="1800" b="1" i="0">
                <a:solidFill>
                  <a:srgbClr val="0B4F9C"/>
                </a:solidFill>
                <a:latin typeface="Cambria"/>
              </a:rPr>
              <a:t>35,200</a:t>
            </a:r>
            <a:r>
              <a:rPr sz="1250" b="0" i="0">
                <a:solidFill>
                  <a:srgbClr val="1F2933"/>
                </a:solidFill>
                <a:latin typeface="Calibri"/>
              </a:rPr>
              <a:t> projected EVs ≈ </a:t>
            </a:r>
            <a:r>
              <a:rPr sz="1800" b="1" i="0">
                <a:solidFill>
                  <a:srgbClr val="0B4F9C"/>
                </a:solidFill>
                <a:latin typeface="Cambria"/>
              </a:rPr>
              <a:t>33</a:t>
            </a:r>
            <a:r>
              <a:rPr sz="1250" b="0" i="0">
                <a:solidFill>
                  <a:srgbClr val="1F2933"/>
                </a:solidFill>
                <a:latin typeface="Calibri"/>
              </a:rPr>
              <a:t> per planned plug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475488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9DB6C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B4F9C"/>
                </a:solidFill>
                <a:latin typeface="Calibri"/>
              </a:rPr>
              <a:t>Plug gap by district (projected − existing)</a:t>
            </a:r>
          </a:p>
        </p:txBody>
      </p:sp>
      <p:graphicFrame>
        <p:nvGraphicFramePr>
          <p:cNvPr id="11" name="Chart: plug gap"/>
          <p:cNvGraphicFramePr>
            <a:graphicFrameLocks noGrp="1"/>
          </p:cNvGraphicFramePr>
          <p:nvPr/>
        </p:nvGraphicFramePr>
        <p:xfrm>
          <a:off x="731520" y="3063240"/>
          <a:ext cx="4389120" cy="3063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Table: priority matrix"/>
          <p:cNvGraphicFramePr>
            <a:graphicFrameLocks noGrp="1"/>
          </p:cNvGraphicFramePr>
          <p:nvPr/>
        </p:nvGraphicFramePr>
        <p:xfrm>
          <a:off x="5486400" y="2468880"/>
          <a:ext cx="6153912" cy="35707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20"/>
                <a:gridCol w="1325880"/>
                <a:gridCol w="1280160"/>
                <a:gridCol w="1444752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5-yr ROI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Plug gap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91440" marR="91440" marT="27432" marB="27432" anchor="ctr">
                    <a:solidFill>
                      <a:srgbClr val="0B4F9C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Jayanagar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+79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0A99D"/>
                          </a:solidFill>
                          <a:latin typeface="Calibri"/>
                        </a:rPr>
                        <a:t>Deploy first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HSR Layout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+70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0A99D"/>
                          </a:solidFill>
                          <a:latin typeface="Calibri"/>
                        </a:rPr>
                        <a:t>Deploy first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Banashankari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+52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0A99D"/>
                          </a:solidFill>
                          <a:latin typeface="Calibri"/>
                        </a:rPr>
                        <a:t>Deploy first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Bommanahalli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133%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+18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Electronic City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JP Nagar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+15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Marathahalli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+28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4F9C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Rajajinagar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+73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E7CC2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Yelahanka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E7CC2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Hebbal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+43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6B7B8C"/>
                          </a:solidFill>
                          <a:latin typeface="Calibri"/>
                        </a:rPr>
                        <a:t>Pilot only</a:t>
                      </a:r>
                    </a:p>
                  </a:txBody>
                  <a:tcPr marL="91440" marR="91440" marT="27432" marB="27432"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0" y="6080760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B7B8C"/>
                </a:solidFill>
                <a:latin typeface="Calibri"/>
              </a:rPr>
              <a:t>Deploy first: ROI ≥45% &amp; gap ≥50 · Quick win: ROI ≥50% &amp; gap &lt;50 · Phase 2: ROI 30–45% &amp; gap ≥60 · Pilot: ROI &lt;30%. Indiranagar (+67), Koramangala (+64) have no ROI in the pivot.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ata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ection label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00A99D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B4F9C"/>
                </a:solidFill>
                <a:latin typeface="Cambria"/>
              </a:rPr>
              <a:t>Recommendations and next steps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Tata Power  |  EV Charging Infrastructure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rgbClr val="6B7B8C"/>
                </a:solidFill>
                <a:latin typeface="Calibri"/>
              </a:rPr>
              <a:t>1</a:t>
            </a:fld>
            <a:r>
              <a:rPr lang="en-US" sz="900" dirty="0">
                <a:solidFill>
                  <a:srgbClr val="6B7B8C"/>
                </a:solidFill>
                <a:latin typeface="Calibri"/>
              </a:rPr>
              <a:t>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2011680"/>
            <a:ext cx="0" cy="3657600"/>
          </a:xfrm>
          <a:prstGeom prst="line">
            <a:avLst/>
          </a:prstGeom>
          <a:ln w="25400">
            <a:solidFill>
              <a:srgbClr val="D7E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1920240"/>
            <a:ext cx="219456" cy="219456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Deploy the High-priority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B7B8C"/>
                </a:solidFill>
                <a:latin typeface="Calibri"/>
              </a:rPr>
              <a:t>Start in Jayanagar, HSR Layout and Banashankari, then fast-track quick wins in Bommanahalli, Electronic City, JP Nagar and Marathahalli.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07208"/>
            <a:ext cx="219456" cy="219456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24328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Favour AC Level-2 and DC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24328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B7B8C"/>
                </a:solidFill>
                <a:latin typeface="Calibri"/>
              </a:rPr>
              <a:t>Payback of 2.0–5.7 years. Limit 150 kW ultra-fast (9.6 years) to proven high-yield corridors.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694176"/>
            <a:ext cx="219456" cy="219456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11296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Fix the weakest economics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11296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B7B8C"/>
                </a:solidFill>
                <a:latin typeface="Calibri"/>
              </a:rPr>
              <a:t>Hebbal (ROI 19%) and districts outside the top ten pull portfolio ROI from 47% to 16%. Review pricing and CAPEX before adding plugs.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81144"/>
            <a:ext cx="219456" cy="219456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98264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Price by time and by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398264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B7B8C"/>
                </a:solidFill>
                <a:latin typeface="Calibri"/>
              </a:rPr>
              <a:t>Overnight (20:00–07:59) carries 30% of energy at ~39% of peak load. Mid-range customers pay ₹23 per kWh against ₹14 for others.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468112"/>
            <a:ext cx="219456" cy="219456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285231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Review the lowest-loaded stations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285231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B7B8C"/>
                </a:solidFill>
                <a:latin typeface="Calibri"/>
              </a:rPr>
              <a:t>Stations 75, 155 and 151 are the least used (station 75 is 6.8% below average). Check uptime, visibility and tariffs.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ata_ppt/ta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4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CF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Yavan Pratap   |   yavan.pratap13@gmail.com   |   linkedin.com/in/yavan-pratap-singh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2026-09-18T10:03:54Z</dcterms:created>
  <dcterms:modified xsi:type="dcterms:W3CDTF">2026-09-18T10:03:54Z</dcterms:modified>
</cp:coreProperties>
</file>